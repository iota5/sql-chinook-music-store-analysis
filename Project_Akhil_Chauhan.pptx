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aleway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regular.fntdata"/><Relationship Id="rId25" Type="http://schemas.openxmlformats.org/officeDocument/2006/relationships/slide" Target="slides/slide20.xml"/><Relationship Id="rId28" Type="http://schemas.openxmlformats.org/officeDocument/2006/relationships/font" Target="fonts/Raleway-italic.fntdata"/><Relationship Id="rId27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7a800445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7a800445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7a8004453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7a8004453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7a8004453_0_8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7a8004453_0_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7a8004453_0_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7a8004453_0_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7a8004453_0_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7a8004453_0_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7a8004453_0_8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7a8004453_0_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7a8004453_0_8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7a8004453_0_8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7a8004453_0_8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7a8004453_0_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7a8004453_0_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7a8004453_0_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7a8004453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7a8004453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7a8004453_0_8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7a8004453_0_8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7a8004453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7a8004453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7a8004453_0_8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7a8004453_0_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7a8004453_0_8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7a8004453_0_8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7a8004453_0_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7a8004453_0_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7a8004453_0_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b7a8004453_0_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7a8004453_0_9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b7a8004453_0_9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8e90959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8e90959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7a8004453_0_9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b7a8004453_0_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485875" y="761275"/>
            <a:ext cx="8183700" cy="147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CHINOOK MUSIC STORE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485875" y="18604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ANALYSIS </a:t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2918125" y="3970975"/>
            <a:ext cx="3319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Submitted by: Akhil Chauhan</a:t>
            </a:r>
            <a:endParaRPr sz="18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About Chinook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Schema and Data description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Cleaning &amp; Preparation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Demography Analysis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Metrics and Insights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Churn and Risk Analysis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genda - Free of Charge Creative Commons Notepad 1 image"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7425" y="915450"/>
            <a:ext cx="4251674" cy="28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3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You are hired as a data analyst at Chinook, and your objective is to analyze music record sales data to gain insights and make recommendations for the company's strategy in the physical music marke</a:t>
            </a:r>
            <a:r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t.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About Chinook:</a:t>
            </a:r>
            <a:endParaRPr b="1" sz="2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415" lvl="0" marL="457200" rtl="0" algn="l">
              <a:lnSpc>
                <a:spcPct val="114998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46"/>
              <a:buFont typeface="Arial"/>
              <a:buChar char="●"/>
            </a:pPr>
            <a:r>
              <a:rPr lang="en" sz="144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Global music store with customers across 24 countries.</a:t>
            </a:r>
            <a:endParaRPr sz="144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415" lvl="0" marL="457200" rtl="0" algn="l">
              <a:lnSpc>
                <a:spcPct val="114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6"/>
              <a:buFont typeface="Arial"/>
              <a:buChar char="●"/>
            </a:pPr>
            <a:r>
              <a:rPr lang="en" sz="144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Sells music albums with wide variety of genres and artists.</a:t>
            </a:r>
            <a:endParaRPr sz="144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usic sign icon. Editable vector isolated on a white background (Provided by Getty Images)"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7975" y="2066725"/>
            <a:ext cx="2965852" cy="2965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1900" y="142200"/>
            <a:ext cx="6577424" cy="5075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74864"/>
            <a:ext cx="9144001" cy="4593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50107"/>
            <a:ext cx="9144000" cy="3843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17883"/>
            <a:ext cx="9143998" cy="3507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1426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814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Checking Duplicates: Using the primary key , duplicates were checked in each table. No duplicates were found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Handled Missing Values: Tables named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track, employee 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customer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contained some missing values. But, they did not belong to essential transactional attributes.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Checked Data Standardization: Checked the Date formats and other data types across all attributes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19245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00"/>
              <a:t>Customer Demographic Breakdown</a:t>
            </a:r>
            <a:endParaRPr sz="2200"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928800"/>
            <a:ext cx="4382100" cy="41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067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35"/>
              <a:buFont typeface="Arial"/>
              <a:buChar char="●"/>
            </a:pPr>
            <a:r>
              <a:rPr b="1"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USA is the largest customer base</a:t>
            </a:r>
            <a:br>
              <a:rPr b="1"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Highest number of customers (</a:t>
            </a:r>
            <a:r>
              <a:rPr b="1"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), making it Chinook’s primary market.</a:t>
            </a:r>
            <a:br>
              <a:rPr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1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6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35"/>
              <a:buFont typeface="Arial"/>
              <a:buChar char="●"/>
            </a:pPr>
            <a:r>
              <a:rPr b="1"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Canada and Brazil form strong secondary markets</a:t>
            </a:r>
            <a:br>
              <a:rPr b="1"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Canada (</a:t>
            </a:r>
            <a:r>
              <a:rPr b="1"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8 customers</a:t>
            </a:r>
            <a:r>
              <a:rPr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 and Brazil (</a:t>
            </a:r>
            <a:r>
              <a:rPr b="1"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 customers</a:t>
            </a:r>
            <a:r>
              <a:rPr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1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6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35"/>
              <a:buFont typeface="Arial"/>
              <a:buChar char="●"/>
            </a:pPr>
            <a:r>
              <a:rPr b="1"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European presence is broad but fragmented</a:t>
            </a:r>
            <a:endParaRPr sz="11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6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35"/>
              <a:buFont typeface="Arial"/>
              <a:buChar char="●"/>
            </a:pPr>
            <a:r>
              <a:rPr b="1"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Long tail of single-customer countries</a:t>
            </a:r>
            <a:endParaRPr b="1" sz="11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935"/>
              <a:buNone/>
            </a:pPr>
            <a:r>
              <a:rPr b="1" lang="en" sz="130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Business Interpretation</a:t>
            </a:r>
            <a:endParaRPr b="1" sz="130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67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35"/>
              <a:buFont typeface="Arial"/>
              <a:buChar char="●"/>
            </a:pPr>
            <a:r>
              <a:rPr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Chinook’s customer base is </a:t>
            </a:r>
            <a:r>
              <a:rPr b="1"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globally distributed</a:t>
            </a:r>
            <a:r>
              <a:rPr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but </a:t>
            </a:r>
            <a:r>
              <a:rPr b="1"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engagement is concentrated in a few key countries</a:t>
            </a:r>
            <a:r>
              <a:rPr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1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6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35"/>
              <a:buFont typeface="Arial"/>
              <a:buChar char="●"/>
            </a:pPr>
            <a:r>
              <a:rPr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Growth strategy should </a:t>
            </a:r>
            <a:r>
              <a:rPr b="1"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prioritize depth in strong markets (USA, Canada, Brazil)</a:t>
            </a:r>
            <a:r>
              <a:rPr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while selectively expanding in high-potential regions.</a:t>
            </a:r>
            <a:br>
              <a:rPr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1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br>
              <a:rPr b="1"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1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729"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8775" y="1052675"/>
            <a:ext cx="4285824" cy="30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/>
        </p:nvSpPr>
        <p:spPr>
          <a:xfrm>
            <a:off x="4881838" y="4218625"/>
            <a:ext cx="4079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</a:rPr>
              <a:t>Figure:  Country-wise Customers Count</a:t>
            </a:r>
            <a:endParaRPr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14587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Revenue Generation by Countries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225125" y="769275"/>
            <a:ext cx="4500000" cy="42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067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35"/>
              <a:buFont typeface="Arial"/>
              <a:buChar char="●"/>
            </a:pPr>
            <a:r>
              <a:rPr b="1"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USA is the dominant revenue driver</a:t>
            </a:r>
            <a:br>
              <a:rPr b="1"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Generates the highest revenue (</a:t>
            </a:r>
            <a:r>
              <a:rPr b="1"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~$1,040</a:t>
            </a:r>
            <a:r>
              <a:rPr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), significantly outperforming all other countries.</a:t>
            </a:r>
            <a:br>
              <a:rPr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1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6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35"/>
              <a:buFont typeface="Arial"/>
              <a:buChar char="●"/>
            </a:pPr>
            <a:r>
              <a:rPr b="1"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Canada, Brazil, France, and Germany form the second tier</a:t>
            </a:r>
            <a:br>
              <a:rPr b="1"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substantial revenue (</a:t>
            </a:r>
            <a:r>
              <a:rPr b="1"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$300–$550 range</a:t>
            </a:r>
            <a:r>
              <a:rPr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), indicating strong market maturity beyond the USA.</a:t>
            </a:r>
            <a:br>
              <a:rPr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1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6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35"/>
              <a:buFont typeface="Arial"/>
              <a:buChar char="●"/>
            </a:pPr>
            <a:r>
              <a:rPr b="1"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High revenue concentration in a few countries</a:t>
            </a:r>
            <a:br>
              <a:rPr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1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6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35"/>
              <a:buFont typeface="Arial"/>
              <a:buChar char="●"/>
            </a:pPr>
            <a:r>
              <a:rPr b="1"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Long tail of low-revenue countries</a:t>
            </a:r>
            <a:br>
              <a:rPr b="1"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Many countries contribute below </a:t>
            </a:r>
            <a:r>
              <a:rPr b="1"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$100</a:t>
            </a:r>
            <a:br>
              <a:rPr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1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935"/>
              <a:buNone/>
            </a:pPr>
            <a:r>
              <a:rPr b="1" lang="en" sz="130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Business Interpretation</a:t>
            </a:r>
            <a:endParaRPr b="1" sz="130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67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35"/>
              <a:buFont typeface="Arial"/>
              <a:buChar char="●"/>
            </a:pPr>
            <a:r>
              <a:rPr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Chinook’s revenue is </a:t>
            </a:r>
            <a:r>
              <a:rPr b="1"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highly concentrated geographically</a:t>
            </a:r>
            <a:r>
              <a:rPr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with the USA acting as the core market.</a:t>
            </a:r>
            <a:br>
              <a:rPr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1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6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35"/>
              <a:buFont typeface="Arial"/>
              <a:buChar char="●"/>
            </a:pPr>
            <a:r>
              <a:rPr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Secondary markets show healthy revenue potential and could be scaled with targeted investment.</a:t>
            </a:r>
            <a:br>
              <a:rPr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1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6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35"/>
              <a:buFont typeface="Arial"/>
              <a:buChar char="●"/>
            </a:pPr>
            <a:r>
              <a:rPr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Low-revenue countries may not justify heavy marketing spend at this stage.</a:t>
            </a:r>
            <a:br>
              <a:rPr lang="en" sz="11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1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729"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4950" y="1023375"/>
            <a:ext cx="4682201" cy="338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2"/>
          <p:cNvSpPr txBox="1"/>
          <p:nvPr/>
        </p:nvSpPr>
        <p:spPr>
          <a:xfrm>
            <a:off x="4891525" y="4436025"/>
            <a:ext cx="4079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</a:rPr>
              <a:t>Figure:  Country-wise Revenue Generated</a:t>
            </a:r>
            <a:endParaRPr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Globally Top Revenue Generating Artist-Genre </a:t>
            </a:r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52475"/>
            <a:ext cx="4342500" cy="41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SzPts val="935"/>
              <a:buNone/>
            </a:pPr>
            <a:r>
              <a:rPr b="1" lang="en" sz="120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Key Insights</a:t>
            </a:r>
            <a:endParaRPr b="1" sz="120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322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35"/>
              <a:buFont typeface="Arial"/>
              <a:buChar char="●"/>
            </a:pPr>
            <a:r>
              <a:rPr b="1" lang="en" sz="10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Rock artists dominate global revenue generation</a:t>
            </a:r>
            <a:r>
              <a:rPr lang="en" sz="10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among top performers.</a:t>
            </a:r>
            <a:br>
              <a:rPr lang="en" sz="10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0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32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35"/>
              <a:buFont typeface="Arial"/>
              <a:buChar char="●"/>
            </a:pPr>
            <a:r>
              <a:rPr b="1" lang="en" sz="10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Queen and Jimi Hendrix</a:t>
            </a:r>
            <a:r>
              <a:rPr lang="en" sz="10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are the highest revenue-generating artists overall.</a:t>
            </a:r>
            <a:br>
              <a:rPr lang="en" sz="10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0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32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35"/>
              <a:buFont typeface="Arial"/>
              <a:buChar char="●"/>
            </a:pPr>
            <a:r>
              <a:rPr lang="en" sz="10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" sz="10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 5 revenue-generating artists all belong to the Rock genre</a:t>
            </a:r>
            <a:r>
              <a:rPr lang="en" sz="10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indicating strong genre leadership.</a:t>
            </a:r>
            <a:br>
              <a:rPr lang="en" sz="10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0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32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35"/>
              <a:buFont typeface="Arial"/>
              <a:buChar char="●"/>
            </a:pPr>
            <a:r>
              <a:rPr lang="en" sz="10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Revenue is concentrated among a small group of iconic Rock artists.</a:t>
            </a:r>
            <a:br>
              <a:rPr lang="en" sz="10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0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SzPts val="935"/>
              <a:buNone/>
            </a:pPr>
            <a:r>
              <a:rPr b="1" lang="en" sz="120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Business Implications</a:t>
            </a:r>
            <a:endParaRPr b="1" sz="120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322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35"/>
              <a:buFont typeface="Arial"/>
              <a:buChar char="●"/>
            </a:pPr>
            <a:r>
              <a:rPr lang="en" sz="10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Rock is not only the top genre by sales but also </a:t>
            </a:r>
            <a:r>
              <a:rPr b="1" lang="en" sz="10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driven by consistently high-performing artists</a:t>
            </a:r>
            <a:r>
              <a:rPr lang="en" sz="10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0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0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32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35"/>
              <a:buFont typeface="Arial"/>
              <a:buChar char="●"/>
            </a:pPr>
            <a:r>
              <a:rPr lang="en" sz="10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Artist-led demand plays a significant role in overall revenue generation.</a:t>
            </a:r>
            <a:br>
              <a:rPr lang="en" sz="10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035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035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29"/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216425"/>
            <a:ext cx="4571999" cy="32196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3"/>
          <p:cNvSpPr txBox="1"/>
          <p:nvPr/>
        </p:nvSpPr>
        <p:spPr>
          <a:xfrm>
            <a:off x="4891525" y="4436025"/>
            <a:ext cx="4079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</a:rPr>
              <a:t>Figure:  Top Revenue Generating Artists and their Genre</a:t>
            </a:r>
            <a:endParaRPr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2167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Selling Genres in each country</a:t>
            </a:r>
            <a:endParaRPr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201475" y="916300"/>
            <a:ext cx="4885800" cy="40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23 out of 24 countries have Rock as their number one genre</a:t>
            </a:r>
            <a:endParaRPr sz="1200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This makes Rock the </a:t>
            </a:r>
            <a:r>
              <a:rPr b="1"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most universally dominant genre</a:t>
            </a:r>
            <a:r>
              <a:rPr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across international market.</a:t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Secondary Genre Preferences Vary Significantly</a:t>
            </a:r>
            <a:endParaRPr b="1"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While Rock is consistently dominant, </a:t>
            </a:r>
            <a:r>
              <a:rPr b="1"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second-ranked genres differ across countries</a:t>
            </a:r>
            <a:r>
              <a:rPr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indicating localized taste patterns:</a:t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Metal</a:t>
            </a:r>
            <a:r>
              <a:rPr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frequently appears as the second-ranked genre, particularly across European countries (e.g., Germany, France, Finland, Hungary).</a:t>
            </a:r>
            <a:br>
              <a:rPr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Alternative &amp; Punk</a:t>
            </a:r>
            <a:r>
              <a:rPr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emerges as a strong secondary genre in countries such as Argentina, Australia, Brazil, India, and Italy.</a:t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7275" y="1114425"/>
            <a:ext cx="3810000" cy="291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4"/>
          <p:cNvSpPr txBox="1"/>
          <p:nvPr/>
        </p:nvSpPr>
        <p:spPr>
          <a:xfrm>
            <a:off x="5142300" y="4129025"/>
            <a:ext cx="40017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</a:rPr>
              <a:t>Figure:  Percentage of </a:t>
            </a:r>
            <a:r>
              <a:rPr b="1" lang="en" sz="800">
                <a:solidFill>
                  <a:srgbClr val="0E0E0E"/>
                </a:solidFill>
              </a:rPr>
              <a:t>number of countries where a genre appears in the top 2</a:t>
            </a:r>
            <a:endParaRPr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15375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Revenue Generating Genres in USA market</a:t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311700" y="777150"/>
            <a:ext cx="4123500" cy="42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495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888"/>
              <a:buFont typeface="Arial"/>
              <a:buChar char="●"/>
            </a:pPr>
            <a:r>
              <a:rPr b="1" lang="en" sz="88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Rock dominates the US market</a:t>
            </a:r>
            <a:r>
              <a:rPr lang="en" sz="88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contributing </a:t>
            </a:r>
            <a:r>
              <a:rPr b="1" lang="en" sz="88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~53% of total genre revenue</a:t>
            </a:r>
            <a:r>
              <a:rPr lang="en" sz="88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88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887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49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88"/>
              <a:buFont typeface="Arial"/>
              <a:buChar char="●"/>
            </a:pPr>
            <a:r>
              <a:rPr b="1" lang="en" sz="88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Alternative &amp; Punk (~12%)</a:t>
            </a:r>
            <a:r>
              <a:rPr lang="en" sz="88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" sz="88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Metal (~11.8%)</a:t>
            </a:r>
            <a:r>
              <a:rPr lang="en" sz="88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are the next strongest performers.</a:t>
            </a:r>
            <a:br>
              <a:rPr lang="en" sz="88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887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49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88"/>
              <a:buFont typeface="Arial"/>
              <a:buChar char="●"/>
            </a:pPr>
            <a:r>
              <a:rPr b="1" lang="en" sz="88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Top 3 genres together drive ~77% of total US revenue</a:t>
            </a:r>
            <a:r>
              <a:rPr lang="en" sz="88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indicating high concentration.</a:t>
            </a:r>
            <a:br>
              <a:rPr lang="en" sz="88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887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49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88"/>
              <a:buFont typeface="Arial"/>
              <a:buChar char="●"/>
            </a:pPr>
            <a:r>
              <a:rPr lang="en" sz="88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All remaining genres individually contribute </a:t>
            </a:r>
            <a:r>
              <a:rPr b="1" lang="en" sz="88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&lt;5%</a:t>
            </a:r>
            <a:r>
              <a:rPr lang="en" sz="88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forming a long-tail demand.</a:t>
            </a:r>
            <a:br>
              <a:rPr lang="en" sz="88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887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r>
              <a:rPr b="1" lang="en" sz="101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Business Implications</a:t>
            </a:r>
            <a:endParaRPr b="1" sz="1012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495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888"/>
              <a:buFont typeface="Arial"/>
              <a:buChar char="●"/>
            </a:pPr>
            <a:r>
              <a:rPr lang="en" sz="88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 revenue is </a:t>
            </a:r>
            <a:r>
              <a:rPr b="1" lang="en" sz="88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highly concentrated in a few genres</a:t>
            </a:r>
            <a:r>
              <a:rPr lang="en" sz="88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led by Rock.</a:t>
            </a:r>
            <a:br>
              <a:rPr lang="en" sz="88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887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49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88"/>
              <a:buFont typeface="Arial"/>
              <a:buChar char="●"/>
            </a:pPr>
            <a:r>
              <a:rPr lang="en" sz="88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Mid-tier genres provide incremental value; niche genres serve specialized audiences.</a:t>
            </a:r>
            <a:br>
              <a:rPr lang="en" sz="88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887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r>
              <a:rPr b="1" lang="en" sz="101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Actionable Takeaways</a:t>
            </a:r>
            <a:endParaRPr b="1" sz="1012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495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888"/>
              <a:buFont typeface="Arial"/>
              <a:buChar char="●"/>
            </a:pPr>
            <a:r>
              <a:rPr b="1" lang="en" sz="88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Prioritize Rock</a:t>
            </a:r>
            <a:r>
              <a:rPr lang="en" sz="88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for major promotions and marketing spend.</a:t>
            </a:r>
            <a:br>
              <a:rPr lang="en" sz="88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887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49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88"/>
              <a:buFont typeface="Arial"/>
              <a:buChar char="●"/>
            </a:pPr>
            <a:r>
              <a:rPr lang="en" sz="88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lang="en" sz="88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niche genres for targeted, low-cost campaigns</a:t>
            </a:r>
            <a:r>
              <a:rPr lang="en" sz="88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rather than mass promotion.</a:t>
            </a:r>
            <a:br>
              <a:rPr lang="en" sz="88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325"/>
          </a:p>
        </p:txBody>
      </p:sp>
      <p:pic>
        <p:nvPicPr>
          <p:cNvPr id="143" name="Google Shape;14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3025" y="1070575"/>
            <a:ext cx="4780974" cy="33339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5"/>
          <p:cNvSpPr txBox="1"/>
          <p:nvPr/>
        </p:nvSpPr>
        <p:spPr>
          <a:xfrm>
            <a:off x="4891525" y="4436025"/>
            <a:ext cx="4079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</a:rPr>
              <a:t>Figure:  Contribution by each Genre in Revenue Generation</a:t>
            </a:r>
            <a:endParaRPr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311700" y="153775"/>
            <a:ext cx="43584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00"/>
              <a:t>Customer Purchasing Behavior</a:t>
            </a:r>
            <a:endParaRPr sz="1800"/>
          </a:p>
        </p:txBody>
      </p:sp>
      <p:sp>
        <p:nvSpPr>
          <p:cNvPr id="150" name="Google Shape;150;p26"/>
          <p:cNvSpPr txBox="1"/>
          <p:nvPr>
            <p:ph idx="1" type="body"/>
          </p:nvPr>
        </p:nvSpPr>
        <p:spPr>
          <a:xfrm>
            <a:off x="311700" y="821875"/>
            <a:ext cx="4011900" cy="41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ct val="84615"/>
              <a:buFont typeface="Arial"/>
              <a:buNone/>
            </a:pPr>
            <a:r>
              <a:rPr b="1" lang="en" sz="13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Comparison b/w Long Term v/s New Customer</a:t>
            </a:r>
            <a:endParaRPr b="1" sz="13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Average Basket Size:</a:t>
            </a:r>
            <a:b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Long-term customers have a slightly larger basket size, indicating deeper engagement per transaction.</a:t>
            </a:r>
            <a:b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Purchase Frequency:</a:t>
            </a:r>
            <a:b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Long-term customers purchase more frequently than new customers, reflecting stronger loyalty.</a:t>
            </a:r>
            <a:b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Average Order Value:</a:t>
            </a:r>
            <a:b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Order value is similar across both groups, suggesting spend per transaction is consistent.</a:t>
            </a:r>
            <a:b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●"/>
            </a:pPr>
            <a: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Average Total Spend:</a:t>
            </a:r>
            <a:b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Long-term customers generate significantly higher total spend due to repeat purchases over time.</a:t>
            </a:r>
            <a:b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6461" y="153775"/>
            <a:ext cx="4157915" cy="284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0620" y="3083600"/>
            <a:ext cx="2890380" cy="205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6"/>
          <p:cNvSpPr txBox="1"/>
          <p:nvPr/>
        </p:nvSpPr>
        <p:spPr>
          <a:xfrm>
            <a:off x="4545650" y="3018900"/>
            <a:ext cx="1141200" cy="12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</a:rPr>
              <a:t>Figures:  Different KPIs compared between Long term Customers and New Customers</a:t>
            </a:r>
            <a:endParaRPr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311700" y="23247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Churn Analysis</a:t>
            </a:r>
            <a:endParaRPr/>
          </a:p>
        </p:txBody>
      </p:sp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233000" y="855875"/>
            <a:ext cx="4515900" cy="44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Global Churn Rate stands at ~27%</a:t>
            </a:r>
            <a:endParaRPr b="1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But there’s huge variation in Churn rates among countries</a:t>
            </a:r>
            <a:endParaRPr b="1"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Several countries show </a:t>
            </a:r>
            <a: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100% churn</a:t>
            </a: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mostly because of less amount of total customers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Mid-tier churn markets:</a:t>
            </a:r>
            <a:b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Germany, Brazil, France, and the UK show </a:t>
            </a:r>
            <a: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moderate churn (30–50%)</a:t>
            </a: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indicating retention challenges despite larger bases.</a:t>
            </a:r>
            <a:b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Strong retention markets:</a:t>
            </a:r>
            <a:b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USA and Canada have </a:t>
            </a:r>
            <a: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low churn (≈15% and 12.5%)</a:t>
            </a: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reflecting more stable and engaged customer bases.</a:t>
            </a:r>
            <a:b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Zero churn regions:</a:t>
            </a:r>
            <a:b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Countries with </a:t>
            </a:r>
            <a:r>
              <a:rPr b="1"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0% churn</a:t>
            </a:r>
            <a:r>
              <a:rPr lang="en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likely reflect limited historical data or very recent customer activity.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b="1" lang="en" sz="11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Recommendation:</a:t>
            </a:r>
            <a:r>
              <a:rPr lang="en" sz="11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Launch retention campaigns in high-churn regions.</a:t>
            </a:r>
            <a:endParaRPr sz="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0000" y="1008275"/>
            <a:ext cx="4164000" cy="234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7"/>
          <p:cNvSpPr txBox="1"/>
          <p:nvPr/>
        </p:nvSpPr>
        <p:spPr>
          <a:xfrm>
            <a:off x="4940925" y="3576300"/>
            <a:ext cx="4079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</a:rPr>
              <a:t>Figure:  Countrywise Churn Rates</a:t>
            </a:r>
            <a:endParaRPr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type="title"/>
          </p:nvPr>
        </p:nvSpPr>
        <p:spPr>
          <a:xfrm>
            <a:off x="311700" y="22460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Profiling of Customers</a:t>
            </a:r>
            <a:endParaRPr/>
          </a:p>
        </p:txBody>
      </p:sp>
      <p:sp>
        <p:nvSpPr>
          <p:cNvPr id="167" name="Google Shape;167;p28"/>
          <p:cNvSpPr txBox="1"/>
          <p:nvPr>
            <p:ph idx="1" type="body"/>
          </p:nvPr>
        </p:nvSpPr>
        <p:spPr>
          <a:xfrm>
            <a:off x="311700" y="814950"/>
            <a:ext cx="8467500" cy="42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43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53"/>
              <a:buFont typeface="Arial"/>
              <a:buChar char="●"/>
            </a:pPr>
            <a:r>
              <a:rPr b="1" lang="en" sz="105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Critical Risk</a:t>
            </a:r>
            <a:endParaRPr b="1" sz="1052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43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3"/>
              <a:buFont typeface="Arial"/>
              <a:buChar char="○"/>
            </a:pPr>
            <a:r>
              <a:rPr lang="en" sz="105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 purchase in the </a:t>
            </a:r>
            <a:r>
              <a:rPr b="1" lang="en" sz="105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last 180+ days</a:t>
            </a:r>
            <a:endParaRPr b="1" sz="1052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43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3"/>
              <a:buFont typeface="Arial"/>
              <a:buChar char="○"/>
            </a:pPr>
            <a:r>
              <a:rPr b="1" lang="en" sz="105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Lowest purchase frequency tier</a:t>
            </a:r>
            <a:r>
              <a:rPr lang="en" sz="105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(frequency_percentile&lt;33% )</a:t>
            </a:r>
            <a:br>
              <a:rPr lang="en" sz="105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05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Represents customers with both inactivity and weak engagement</a:t>
            </a:r>
            <a:br>
              <a:rPr lang="en" sz="105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052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4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3"/>
              <a:buFont typeface="Arial"/>
              <a:buChar char="●"/>
            </a:pPr>
            <a:r>
              <a:rPr b="1" lang="en" sz="105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High Risk (Churn Risk)</a:t>
            </a:r>
            <a:endParaRPr b="1" sz="1052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43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3"/>
              <a:buFont typeface="Arial"/>
              <a:buChar char="○"/>
            </a:pPr>
            <a:r>
              <a:rPr lang="en" sz="105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 purchase in the </a:t>
            </a:r>
            <a:r>
              <a:rPr b="1" lang="en" sz="105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last 180+ days</a:t>
            </a:r>
            <a:endParaRPr b="1" sz="1052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43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3"/>
              <a:buFont typeface="Arial"/>
              <a:buChar char="○"/>
            </a:pPr>
            <a:r>
              <a:rPr lang="en" sz="105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Purchase frequency is not in the lowest tier</a:t>
            </a:r>
            <a:endParaRPr sz="1052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43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3"/>
              <a:buFont typeface="Arial"/>
              <a:buChar char="○"/>
            </a:pPr>
            <a:r>
              <a:rPr lang="en" sz="105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Indicates historically active customers who have disengaged recently</a:t>
            </a:r>
            <a:br>
              <a:rPr lang="en" sz="105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052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4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3"/>
              <a:buFont typeface="Arial"/>
              <a:buChar char="●"/>
            </a:pPr>
            <a:r>
              <a:rPr b="1" lang="en" sz="105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Medium Risk (Low Frequency Risk)</a:t>
            </a:r>
            <a:endParaRPr b="1" sz="1052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43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3"/>
              <a:buFont typeface="Arial"/>
              <a:buChar char="○"/>
            </a:pPr>
            <a:r>
              <a:rPr lang="en" sz="105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Recent purchase activity</a:t>
            </a:r>
            <a:endParaRPr sz="1052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43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3"/>
              <a:buFont typeface="Arial"/>
              <a:buChar char="○"/>
            </a:pPr>
            <a:r>
              <a:rPr b="1" lang="en" sz="105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Lowest purchase frequency tier</a:t>
            </a:r>
            <a:endParaRPr b="1" sz="1052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43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3"/>
              <a:buFont typeface="Arial"/>
              <a:buChar char="○"/>
            </a:pPr>
            <a:r>
              <a:rPr lang="en" sz="105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Customers are active but lack consistent repeat behavior</a:t>
            </a:r>
            <a:br>
              <a:rPr lang="en" sz="105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052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4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3"/>
              <a:buFont typeface="Arial"/>
              <a:buChar char="●"/>
            </a:pPr>
            <a:r>
              <a:rPr b="1" lang="en" sz="105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Low Spender (Value Risk)</a:t>
            </a:r>
            <a:r>
              <a:rPr lang="en" sz="105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i="1" sz="1052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43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3"/>
              <a:buFont typeface="Arial"/>
              <a:buChar char="○"/>
            </a:pPr>
            <a:r>
              <a:rPr lang="en" sz="105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Active customers</a:t>
            </a:r>
            <a:endParaRPr sz="1052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43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3"/>
              <a:buFont typeface="Arial"/>
              <a:buChar char="○"/>
            </a:pPr>
            <a:r>
              <a:rPr b="1" lang="en" sz="105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Lowest spending tier</a:t>
            </a:r>
            <a:r>
              <a:rPr lang="en" sz="105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(spend_tile = 1)</a:t>
            </a:r>
            <a:endParaRPr sz="1052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43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3"/>
              <a:buFont typeface="Arial"/>
              <a:buChar char="○"/>
            </a:pPr>
            <a:r>
              <a:rPr lang="en" sz="105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Engagement exists, but revenue contribution is low</a:t>
            </a:r>
            <a:br>
              <a:rPr lang="en" sz="105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052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43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3"/>
              <a:buFont typeface="Arial"/>
              <a:buChar char="●"/>
            </a:pPr>
            <a:r>
              <a:rPr b="1" lang="en" sz="105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Low Risk</a:t>
            </a:r>
            <a:endParaRPr b="1" sz="1052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43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3"/>
              <a:buFont typeface="Arial"/>
              <a:buChar char="○"/>
            </a:pPr>
            <a:r>
              <a:rPr lang="en" sz="105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Recent purchases</a:t>
            </a:r>
            <a:endParaRPr sz="1052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43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3"/>
              <a:buFont typeface="Arial"/>
              <a:buChar char="○"/>
            </a:pPr>
            <a:r>
              <a:rPr lang="en" sz="105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Moderate to high frequency and spending</a:t>
            </a:r>
            <a:endParaRPr sz="1052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433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3"/>
              <a:buFont typeface="Arial"/>
              <a:buChar char="○"/>
            </a:pPr>
            <a:r>
              <a:rPr lang="en" sz="105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Most stable and valuable customer segment</a:t>
            </a:r>
            <a:br>
              <a:rPr lang="en" sz="105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052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595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162150" y="1931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Customer Risk Profile Summary</a:t>
            </a:r>
            <a:endParaRPr sz="3300"/>
          </a:p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240850" y="762850"/>
            <a:ext cx="4004100" cy="41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Low Risk:</a:t>
            </a:r>
            <a:r>
              <a:rPr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Most valuable segment with high spend, frequent purchases, and recent activity.</a:t>
            </a:r>
            <a:br>
              <a:rPr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Critical Risk:</a:t>
            </a:r>
            <a:r>
              <a:rPr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Longest inactivity period; previously valuable customers now fully disengaged and at highest churn risk.</a:t>
            </a:r>
            <a:br>
              <a:rPr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High Risk (Churn Risk):</a:t>
            </a:r>
            <a:r>
              <a:rPr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Strong historical engagement but recent inactivity; ideal targets for win-back campaigns.</a:t>
            </a:r>
            <a:br>
              <a:rPr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Medium Risk (Low Frequency):</a:t>
            </a:r>
            <a:r>
              <a:rPr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Active customers with low repeat purchases; revenue growth limited by weak frequency.</a:t>
            </a:r>
            <a:br>
              <a:rPr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Low Spender (Value Risk):</a:t>
            </a:r>
            <a:r>
              <a:rPr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Active customers with small basket sizes and low spend; CLV risk due to low transaction value.</a:t>
            </a:r>
            <a:br>
              <a:rPr lang="en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1075" y="1114100"/>
            <a:ext cx="4610550" cy="284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9"/>
          <p:cNvSpPr txBox="1"/>
          <p:nvPr/>
        </p:nvSpPr>
        <p:spPr>
          <a:xfrm>
            <a:off x="4728475" y="4075325"/>
            <a:ext cx="4079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</a:rPr>
              <a:t>Figure:  KPIs( Avg total purchases, Avg Basket Size) across Risk Profiles</a:t>
            </a:r>
            <a:endParaRPr>
              <a:solidFill>
                <a:schemeClr val="lt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>
            <p:ph type="title"/>
          </p:nvPr>
        </p:nvSpPr>
        <p:spPr>
          <a:xfrm>
            <a:off x="311700" y="33617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Recommendations:</a:t>
            </a:r>
            <a:endParaRPr/>
          </a:p>
        </p:txBody>
      </p:sp>
      <p:sp>
        <p:nvSpPr>
          <p:cNvPr id="181" name="Google Shape;181;p30"/>
          <p:cNvSpPr txBox="1"/>
          <p:nvPr>
            <p:ph idx="1" type="body"/>
          </p:nvPr>
        </p:nvSpPr>
        <p:spPr>
          <a:xfrm>
            <a:off x="311700" y="629225"/>
            <a:ext cx="7689300" cy="3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018"/>
              <a:buFont typeface="Arial"/>
              <a:buNone/>
            </a:pPr>
            <a:r>
              <a:t/>
            </a:r>
            <a:endParaRPr b="1" sz="1772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911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18"/>
              <a:buFont typeface="Arial"/>
              <a:buChar char="●"/>
            </a:pPr>
            <a:r>
              <a:rPr b="1" lang="en" sz="121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Strengthen core markets (USA &amp; Canada)</a:t>
            </a:r>
            <a:r>
              <a:rPr lang="en" sz="121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with loyalty programs and personalized engagement to protect high-value customers.</a:t>
            </a:r>
            <a:br>
              <a:rPr lang="en" sz="121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217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91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18"/>
              <a:buFont typeface="Arial"/>
              <a:buChar char="●"/>
            </a:pPr>
            <a:r>
              <a:rPr b="1" lang="en" sz="121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Prioritize Rock-driven promotions</a:t>
            </a:r>
            <a:r>
              <a:rPr lang="en" sz="121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with secondary focus on Alternative &amp; Punk and Metal, as these genres drive most revenue.</a:t>
            </a:r>
            <a:br>
              <a:rPr lang="en" sz="121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217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91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18"/>
              <a:buFont typeface="Arial"/>
              <a:buChar char="●"/>
            </a:pPr>
            <a:r>
              <a:rPr b="1" lang="en" sz="121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Re-engage high-value but inactive customers</a:t>
            </a:r>
            <a:r>
              <a:rPr lang="en" sz="121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through targeted win-back campaigns to maximize retention ROI.</a:t>
            </a:r>
            <a:br>
              <a:rPr lang="en" sz="121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217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91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18"/>
              <a:buFont typeface="Arial"/>
              <a:buChar char="●"/>
            </a:pPr>
            <a:r>
              <a:rPr b="1" lang="en" sz="121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Focus on increasing purchase frequency</a:t>
            </a:r>
            <a:r>
              <a:rPr lang="en" sz="121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since revenue growth is driven more by repeat purchases than basket size.</a:t>
            </a:r>
            <a:br>
              <a:rPr lang="en" sz="121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217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91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18"/>
              <a:buFont typeface="Arial"/>
              <a:buChar char="●"/>
            </a:pPr>
            <a:r>
              <a:rPr b="1" lang="en" sz="121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Stabilize medium-risk customers early</a:t>
            </a:r>
            <a:r>
              <a:rPr lang="en" sz="121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using personalized nudges to prevent churn.</a:t>
            </a:r>
            <a:br>
              <a:rPr lang="en" sz="121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217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91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18"/>
              <a:buFont typeface="Arial"/>
              <a:buChar char="●"/>
            </a:pPr>
            <a:r>
              <a:rPr b="1" lang="en" sz="121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Upsell low-spender but active customers</a:t>
            </a:r>
            <a:r>
              <a:rPr lang="en" sz="121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via bundles and cross-selling strategies to improve CLV.</a:t>
            </a:r>
            <a:br>
              <a:rPr lang="en" sz="121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217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91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18"/>
              <a:buFont typeface="Arial"/>
              <a:buChar char="●"/>
            </a:pPr>
            <a:r>
              <a:rPr b="1" lang="en" sz="121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Adopt geography-aware investment</a:t>
            </a:r>
            <a:r>
              <a:rPr lang="en" sz="121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concentrating spend in high-impact regions and using low-cost strategies in smaller markets.</a:t>
            </a:r>
            <a:br>
              <a:rPr lang="en" sz="121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1217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865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/>
          <p:nvPr>
            <p:ph type="title"/>
          </p:nvPr>
        </p:nvSpPr>
        <p:spPr>
          <a:xfrm>
            <a:off x="311700" y="27630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87" name="Google Shape;187;p31"/>
          <p:cNvSpPr txBox="1"/>
          <p:nvPr>
            <p:ph idx="1" type="body"/>
          </p:nvPr>
        </p:nvSpPr>
        <p:spPr>
          <a:xfrm>
            <a:off x="311700" y="899700"/>
            <a:ext cx="6791100" cy="3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analysis reveals clear patterns in customer purchasing behavior, regional trends, and genre preferences, enabling more targeted business decisions.</a:t>
            </a:r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Customer behavior and revenue are </a:t>
            </a:r>
            <a:r>
              <a:rPr b="1" lang="en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 uniform across regions</a:t>
            </a:r>
            <a:r>
              <a:rPr lang="en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requiring market-specific strategies.</a:t>
            </a:r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Rock genre and</a:t>
            </a:r>
            <a:r>
              <a:rPr lang="en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 few top artists drive a majority of revenue.</a:t>
            </a:r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Customer engagement (recency &amp; frequency)</a:t>
            </a:r>
            <a:r>
              <a:rPr lang="en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is the strongest driver of value and retention.</a:t>
            </a:r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Clear </a:t>
            </a:r>
            <a:r>
              <a:rPr b="1" lang="en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customer segments and risk profiles</a:t>
            </a:r>
            <a:r>
              <a:rPr lang="en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enable focused retention, upsell, and churn-prevention actions.</a:t>
            </a:r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noticeable share of valuable customers has churned, indicating gaps in retention and re-engagement strategies</a:t>
            </a:r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Data-driven analysis provides </a:t>
            </a:r>
            <a:r>
              <a:rPr b="1" lang="en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actionable direction for growth, loyalty, and marketing optimization</a:t>
            </a:r>
            <a:r>
              <a:rPr lang="en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/>
          <p:nvPr>
            <p:ph type="title"/>
          </p:nvPr>
        </p:nvSpPr>
        <p:spPr>
          <a:xfrm>
            <a:off x="311700" y="2334300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